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/blob/main/docs/DESIGN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://localhost:5000/classify" TargetMode="External"/><Relationship Id="rId3" Type="http://schemas.openxmlformats.org/officeDocument/2006/relationships/hyperlink" Target="http://localhost:5000/dashboar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HadarBaum/asvspoof-voice-a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Human-or-AI Voice Detector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Calibri"/>
              </a:defRPr>
            </a:pPr>
            <a:r>
              <a:t>BIU Big Data and AI course project — ASVspoof2019 (Logical Access)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D9488"/>
                </a:solidFill>
                <a:latin typeface="Calibri"/>
              </a:defRPr>
            </a:pPr>
            <a:r>
              <a:t>MinIO · Apache Spark · Apache Kafka · Elasticsearch · scikit-learn · Flask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Beny Rojanski  ·  Renana Chaba  ·  Hadar Baum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 &amp;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Can we tell real human speech apart from AI-generated (TTS / voice-conversion) speech?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ASVspoof2019 Logical Access partition: bonafide vs. spoofed utterances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~121k labeled flac clips across train / dev / eval, speaker-disjoint splits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PA (replay-attack) partition intentionally excluded — not AI-generated speech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full pipeline, end to end - object store to serving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Kaggle: ASVspoof2019 LA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download_dataset.py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object store - raw audio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0146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batch_feature_extraction.py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40899" y="1371600"/>
            <a:ext cx="2602153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Parquet +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Elasticsearch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feature 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train_classifier.py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RF vs Gradient Boosting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model +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2978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index_embeddings.py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standardize -&gt;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k-NN embeddings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849880"/>
            <a:ext cx="3545738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kafka_producer.py -&gt;</a:t>
            </a:r>
          </a:p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streaming_enrichment.py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near-real-time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aggregations -&gt; charts + RESULTS.md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4328160"/>
            <a:ext cx="5432907" cy="975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12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  <a:p>
            <a:pPr algn="ctr">
              <a:defRPr sz="950">
                <a:solidFill>
                  <a:srgbClr val="64748B"/>
                </a:solidFill>
                <a:latin typeface="Calibri"/>
              </a:defRPr>
            </a:pPr>
            <a:r>
              <a:t>/classify + /dashboard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0793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81546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812299" y="1859280"/>
            <a:ext cx="228600" cy="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321509" y="2346960"/>
            <a:ext cx="8020466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095847" y="2346960"/>
            <a:ext cx="4246128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9870185" y="2346960"/>
            <a:ext cx="471790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21509" y="3825240"/>
            <a:ext cx="943584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21509" y="3825240"/>
            <a:ext cx="6605091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95847" y="3825240"/>
            <a:ext cx="2830753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265093" y="3825240"/>
            <a:ext cx="6605092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926600" y="3825240"/>
            <a:ext cx="943585" cy="502920"/>
          </a:xfrm>
          <a:prstGeom prst="line">
            <a:avLst/>
          </a:prstGeom>
          <a:ln w="15875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>
            <a:hlinkClick r:id="rId2"/>
          </p:cNvPr>
          <p:cNvSpPr/>
          <p:nvPr/>
        </p:nvSpPr>
        <p:spPr>
          <a:xfrm>
            <a:off x="548640" y="5440680"/>
            <a:ext cx="3931920" cy="457200"/>
          </a:xfrm>
          <a:prstGeom prst="roundRect">
            <a:avLst>
              <a:gd name="adj" fmla="val 6000"/>
            </a:avLst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View exact diagram in DESIGN.md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559552"/>
            <a:ext cx="6888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Same architecture as the Mermaid flowchart in docs/DESIGN.md, redrawn natively for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0-1 - Ingest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Kaggle corpus -&gt; MinIO object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download_dataset.py pulls the ASVspoof2019 LA corpus (~121k flac files) from Kaggle via its API into data/raw/ — a one-time step, gated on a Kaggle API token.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ingest_to_minio.py uploads every labeled utterance into MinIO, an S3-compatible object store, keyed by partition and filename.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32 concurrent upload threads by default — this step is I/O-bound (many small files), so threading helps a lot even though Python threads don't parallelize CPU work.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Downstream steps (the Spark job, the streaming consumer, the Flask app) always fetch audio by key from MinIO, never the local filesystem — any worker, anywhere, can read a clip.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Protocol metadata (speaker id, attack id, bonafide/spoof label) stays in small local text files — only the audio bytes, the actually "big" unstructured data, go into the object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Spark batch feature extraction — the actual "big data"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batch_feature_extraction.py reads the train+dev protocol metadata and fans out across Spark executors, one task per partition of utterances.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Each executor fetches its share of clips' audio bytes from MinIO and computes a fixed-length acoustic feature vector (20 MFCCs + spectral/pitch/energy statistics) via common.features.extract_features — the same function used everywhere else in this project.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~50k train+dev audio files decoded and feature-extracted in parallel across cores instead of one Python process working through them serially — this is the real "big data" step, not model training itself.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Driver and executors are both pinned to sys.executable so Spark workers resolve the same Python/venv as the driver, instead of whatever `python` happens to be on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in the feature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53 numbers per clip — one shared function, one fixed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94413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9026"/>
                <a:gridCol w="935673"/>
                <a:gridCol w="6549714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Count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captures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MFCCs (20 coeffs × mean/std)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Vocal-tract spectral envelope — timbre/voice quality, the model's top group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Spectral shape (centroid/bandwidth/rolloff)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Brightness, spread, and energy roll-off of the spectrum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Signal level (zero-crossing rate, RMS energy)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Noisiness and loudness over time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Pitch (F0, 50-500Hz via librosa.yin)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Fundamental frequency mean/std, human vocal range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Clip length in seconds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One fixed-length row per clip, any duration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257800"/>
            <a:ext cx="11094415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Mean + std of frame-level features, not raw sequences — every clip, any length, maps to the same 53-column row a tabular classifier expects.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One function, common/features.py:extract_features(), computes this for the Spark batch job, the Kafka consumer, and the live /classify endpoint — training and inference match exactly.</a:t>
            </a:r>
          </a:p>
          <a:p>
            <a:pPr>
              <a:spcAft>
                <a:spcPts val="1200"/>
              </a:spcAft>
              <a:defRPr sz="1300">
                <a:solidFill>
                  <a:srgbClr val="1A202C"/>
                </a:solidFill>
                <a:latin typeface="Calibri"/>
              </a:defRPr>
            </a:pPr>
            <a:r>
              <a:t>•  Pitch uses plain librosa.yin, not pyin — pyin's HMM smoothing measured 2-9s/clip; across 50k+ clips, yin gets a comparable signal in ~0.02s.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2 - 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Feature table -&gt; Parquet + Elasticsearch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Every feature row the Spark job computes is written to two places at once, in the same run.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Parquet (pipeline/features_train_dev.parquet) — the input train_classifier.py and index_embeddings.py train from.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Elasticsearch's asvspoof-training-features index — the same rows, so aggregations/insights can run without re-reading Parquet.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Elasticsearch (a NoSQL document store) goes on to hold training results, live streamed predictions, and — once standardized — dense_vector embeddings for k-NN search, all in the same cluster.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1 —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Random Forest vs. Gradient Boosting, picked by 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Both models reweighted for the ~9:1 spoof/bonafide imbalance in training data, then compared on dev: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65960"/>
          <a:ext cx="11094414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291"/>
                <a:gridCol w="2641527"/>
                <a:gridCol w="2641527"/>
                <a:gridCol w="1849069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EER (lower is better)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ROC-AUC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Deployed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12.31%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0.951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Gradient Boosting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9.26%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0.970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A202C"/>
                </a:solidFill>
                <a:latin typeface="Calibri"/>
              </a:defRPr>
            </a:pPr>
            <a:r>
              <a:t>•  Selection metric is EER — the metric the ASVspoof challenge itself is scored on, not raw accuracy, which looked strong while quietly failing bonafide clips (see the next two slides).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EER is calculated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The metric the ASVspoof challenge itself is 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Score every dev utterance with the model, giving each one a P(spoof) between 0 and 1.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Sweep every possible decision threshold and, at each one, compute two error rates: the false-acceptance rate (bonafide clips wrongly called spoof) and the false-rejection rate (spoof clips wrongly called bonafide).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As the threshold moves, one error rate goes up while the other goes down — the Equal Error Rate is the threshold where the two curves cross, i.e. where both error rates are equal.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EER itself is that shared error rate at the crossing point; the threshold at that point is what actually gets deployed (see the model artifact in common/model.py).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Lower EER = better separation between the two classes. 0% would mean a threshold exists with zero errors of either kind; this project's deployed model scores 9.26%.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34924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68112"/>
            <a:ext cx="106372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fpr, tpr, thresholds = roc_curve(y_true_spoof, y_score_spoof)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fnr = 1 - tpr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eer_idx = argmin(abs(fnr - fpr))   # where the two curves are closest</a:t>
            </a:r>
          </a:p>
          <a:p>
            <a:pPr>
              <a:defRPr sz="1300">
                <a:solidFill>
                  <a:srgbClr val="0F2942"/>
                </a:solidFill>
                <a:latin typeface="Consolas"/>
              </a:defRPr>
            </a:pPr>
            <a:r>
              <a:t>eer, threshold = (fpr[eer_idx] + fnr[eer_idx]) / 2,  thresholds[eer_idx]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the accuracy paradox, found and 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default 0.5 threshold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38218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91%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at deployed EER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1417320"/>
            <a:ext cx="3515258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7796" y="1618488"/>
            <a:ext cx="3515258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9236" y="2377440"/>
            <a:ext cx="3332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Equal Error Rate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(ASVspoof's own metric)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5468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Dev accuracy at the default threshold (94.3%) looked strong, but the model was quietly biased toward the majority class: it caught spoof reliably, bonafide much less so.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•  Fix: the model artifact now stores its own EER-optimal decision threshold, used everywhere (streaming consumer, web app) instead of scikit-learn's default 0.5.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4343400"/>
          <a:ext cx="11094414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34440"/>
                <a:gridCol w="2983372"/>
                <a:gridCol w="3076602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Gradient Boosting on dev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default 0.5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@ EER 0.689</a:t>
                      </a:r>
                    </a:p>
                  </a:txBody>
                  <a:tcPr anchor="ctr" marL="109728" marR="109728">
                    <a:solidFill>
                      <a:srgbClr val="0F294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recall — real speech kept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80.2%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Bonafide precision — cost of the fix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69.1%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52.8%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Spoof recall — attacks still caught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95.9%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Overall accuracy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94.3%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A202C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Balanced accuracy — the honest headline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88.0%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90.7%</a:t>
                      </a:r>
                    </a:p>
                  </a:txBody>
                  <a:tcPr anchor="ctr" marL="109728" marR="109728">
                    <a:solidFill>
                      <a:srgbClr val="E6F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dev — ROC curve &amp; what the model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pic>
        <p:nvPicPr>
          <p:cNvPr id="6" name="Picture 5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dev partition. Left: both candidate models, deployed model's EER point marked. Right: top acoustic features — MFCC variance dominates.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2 — embeddings &amp; semantic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The same acoustic feature vectors double as embeddings — no separate embedding model needed.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Standardized (zero mean, unit variance) so cosine similarity isn't dominated by whichever feature happens to have the largest raw scale.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Indexed into Elasticsearch as dense_vector fields, added to the existing index in place (a mapping update, not a reindex — the 50k+ documents were already there).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Powers /classify's "most acoustically similar training clips" — k-NN search, playable in the browser, replacing a keyword match with genuine semantic search.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AI capability 3 — streaming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Kafka producer/consumer, near-real-time scoring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Producer replays eval-set utterance events (a MinIO key, not the audio itself).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Consumer fetches the clip, extracts features, scores it at the deployed EER threshold, and writes an enriched prediction to Elasticsearch — one document per utterance, live.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Same feature-extraction and model code as the batch job and the web app — one implementation applied three ways, not three separate things to maintain and defend.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A named consumer group tracks offset, so re-running resumes instead of re-scoring.</a:t>
            </a:r>
          </a:p>
          <a:p>
            <a:pPr>
              <a:spcAft>
                <a:spcPts val="1200"/>
              </a:spcAft>
              <a:defRPr sz="1900">
                <a:solidFill>
                  <a:srgbClr val="1A202C"/>
                </a:solidFill>
                <a:latin typeface="Calibri"/>
              </a:defRPr>
            </a:pPr>
            <a:r>
              <a:t>•  Everything on the next three slides is scored here, on the eval partition — attacks A07–A19, synthesis systems the model never saw during training.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Pipeline stage 5 -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insights.py — Elasticsearch aggregations -&gt; charts + 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94415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Runs after the streaming consumer has written predictions — every number here is a live Elasticsearch aggregation query, nothing hand-typed or invented.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Computes balanced and overall detection accuracy, per-attack-type accuracy, a confusion matrix, a confidence histogram, and class balance.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Writes both a markdown report (docs/RESULTS.md) and the PNG charts /dashboard reuses — safe to re-run any time after a pipeline run (sample or full-scale) to regenerate real results.</a:t>
            </a:r>
          </a:p>
          <a:p>
            <a:pPr>
              <a:spcAft>
                <a:spcPts val="1200"/>
              </a:spcAft>
              <a:defRPr sz="1700">
                <a:solidFill>
                  <a:srgbClr val="1A202C"/>
                </a:solidFill>
                <a:latin typeface="Calibri"/>
              </a:defRPr>
            </a:pPr>
            <a:r>
              <a:t>•  The confusion matrix, confidence histogram, and accuracy-by-attack charts on the next slides are this script's direct output, not hand-drawn. The ROC and feature-importance charts shown earlier come from train_classifier.py instead, since those need the model's own dev predictions.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confusion matrix &amp; confidence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43" y="1417320"/>
            <a:ext cx="4892040" cy="4892040"/>
          </a:xfrm>
          <a:prstGeom prst="rect">
            <a:avLst/>
          </a:prstGeom>
        </p:spPr>
      </p:pic>
      <p:pic>
        <p:nvPicPr>
          <p:cNvPr id="7" name="Picture 6" descr="confidence_histo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2059991"/>
            <a:ext cx="5410047" cy="36066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Both from the streamed eval predictions. Left: true vs. predicted counts. Right: confidence on correct vs. incorrect calls — some are confidently wrong.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 on streamed eval — accuracy by attack 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Calibri"/>
              </a:defRPr>
            </a:pPr>
            <a:r>
              <a:t>Near-perfect on most TTS/VC systems; A17/A18/A19 are the hard 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0D9488"/>
                </a:solidFill>
                <a:latin typeface="Calibri"/>
              </a:defRPr>
            </a:pPr>
            <a:r>
              <a:t>89.3%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Balanced accuracy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(mean of per-class recalls)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0823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95.3%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2263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Bonafide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(real human speech)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6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6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2B6CB0"/>
                </a:solidFill>
                <a:latin typeface="Calibri"/>
              </a:defRPr>
            </a:pPr>
            <a:r>
              <a:t>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6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Spoof recall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(AI-generated speech)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5189" y="1417320"/>
            <a:ext cx="2567863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5189" y="1618488"/>
            <a:ext cx="2567863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DC2626"/>
                </a:solidFill>
                <a:latin typeface="Calibri"/>
              </a:defRPr>
            </a:pPr>
            <a:r>
              <a:t>88.2%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29" y="2377440"/>
            <a:ext cx="238498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Always-spoof baseline</a:t>
            </a:r>
          </a:p>
          <a:p>
            <a:pPr algn="ctr">
              <a:defRPr sz="1200">
                <a:solidFill>
                  <a:srgbClr val="64748B"/>
                </a:solidFill>
                <a:latin typeface="Calibri"/>
              </a:defRPr>
            </a:pPr>
            <a:r>
              <a:t>beats raw accuracy (84.8%)</a:t>
            </a:r>
          </a:p>
        </p:txBody>
      </p:sp>
      <p:pic>
        <p:nvPicPr>
          <p:cNvPr id="19" name="Picture 18" descr="accuracy_by_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447" y="3108960"/>
            <a:ext cx="6400800" cy="3200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48640" y="64008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All figures from the 2000 streamed eval predictions (attacks A07–A19, unseen during training).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/classify — upload a clip or record live from the microphone (captured via the Web Audio API, encoded to WAV client-side — no server changes needed for live recording).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Returns Human / AI-generated + confidence, plus the 5 most similar training clips, each one playable right in the results, so you can hear what "similar" sounds like.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/dashboard — live Elasticsearch aggregations: model comparison, threshold trade-off, ROC curve, confusion matrix, feature importance, confidence calibration.</a:t>
            </a:r>
          </a:p>
        </p:txBody>
      </p:sp>
      <p:sp>
        <p:nvSpPr>
          <p:cNvPr id="7" name="Rounded Rectangle 6">
            <a:hlinkClick r:id="rId2"/>
          </p:cNvPr>
          <p:cNvSpPr/>
          <p:nvPr/>
        </p:nvSpPr>
        <p:spPr>
          <a:xfrm>
            <a:off x="54864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/classify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4114800" y="3794760"/>
            <a:ext cx="3291840" cy="594360"/>
          </a:xfrm>
          <a:prstGeom prst="roundRect">
            <a:avLst>
              <a:gd name="adj" fmla="val 6000"/>
            </a:avLst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▶  Open /dashboard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40740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748B"/>
                </a:solidFill>
                <a:latin typeface="Calibri"/>
              </a:defRPr>
            </a:pPr>
            <a:r>
              <a:t>Links open localhost:5000 — click while presenting from the machine running the app (see README.md).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36008"/>
            <a:ext cx="1109441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4748B"/>
                </a:solidFill>
                <a:latin typeface="Calibri"/>
              </a:defRPr>
            </a:pPr>
            <a:r>
              <a:t>Where this stage sits in the pipeline: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Kaggle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8819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MinIO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8998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Spark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9177" y="4892040"/>
            <a:ext cx="266387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B6C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Parquet + 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train_classifier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5546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index_embeddings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2452" y="5516880"/>
            <a:ext cx="3600602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kafka -&gt; streaming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1A202C"/>
                </a:solidFill>
                <a:latin typeface="Calibri"/>
              </a:defRPr>
            </a:pPr>
            <a:r>
              <a:t>insights.py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6141720"/>
            <a:ext cx="5474055" cy="441960"/>
          </a:xfrm>
          <a:prstGeom prst="roundRect">
            <a:avLst>
              <a:gd name="adj" fmla="val 6000"/>
            </a:avLst>
          </a:prstGeom>
          <a:solidFill>
            <a:srgbClr val="0D9488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Flask app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12515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22694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832873" y="5113020"/>
            <a:ext cx="146304" cy="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348941" y="5334000"/>
            <a:ext cx="7962173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5847" y="5334000"/>
            <a:ext cx="421526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842753" y="5334000"/>
            <a:ext cx="468361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348941" y="5958840"/>
            <a:ext cx="93672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348941" y="5958840"/>
            <a:ext cx="6557085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95847" y="5958840"/>
            <a:ext cx="2810179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3285667" y="5958840"/>
            <a:ext cx="6557086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906026" y="5958840"/>
            <a:ext cx="936727" cy="182880"/>
          </a:xfrm>
          <a:prstGeom prst="line">
            <a:avLst/>
          </a:prstGeom>
          <a:ln w="12700">
            <a:solidFill>
              <a:srgbClr val="64748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2103120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Calibri"/>
              </a:defRPr>
            </a:pPr>
            <a:r>
              <a:t>Challenges &amp; trade-offs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Windows + Spark: worker Python resolution, a path with spaces, a pyspark 3.5.1 / Python 3.12 incompatibility, and a removed distutils — four environment bugs, none in our own logic, all diagnosed and fixed rather than worked around.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The EER threshold trades some spoof recall for bonafide recall — a deliberate choice, not a free win: no single threshold maximizes both on an imbalanced dataset.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Embedding is the classifier's own feature vector, not a separate pretrained audio embedding model — keeps the semantic-search capability fully self-contained.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Kept Python end-to-end (not Scala) since the feature-extraction library is Python-only.</a:t>
            </a:r>
          </a:p>
          <a:p>
            <a:pPr>
              <a:spcAft>
                <a:spcPts val="1200"/>
              </a:spcAft>
              <a:defRPr sz="1800">
                <a:solidFill>
                  <a:srgbClr val="1A202C"/>
                </a:solidFill>
                <a:latin typeface="Calibri"/>
              </a:defRPr>
            </a:pPr>
            <a:r>
              <a:t>•  Speaker-disjoint train/dev split (not random) to avoid inflating accuracy via leakage.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947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BD5E1"/>
                </a:solidFill>
                <a:latin typeface="Calibri"/>
              </a:defRPr>
            </a:pPr>
            <a:r>
              <a:rPr>
                <a:hlinkClick r:id="rId2"/>
              </a:rPr>
              <a:t>github.com/HadarBaum/asvspoof-voice-ai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