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HadarBaum/asvspoof-voice-ai/blob/main/docs/DESIGN.md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://localhost:5000/classify" TargetMode="External"/><Relationship Id="rId3" Type="http://schemas.openxmlformats.org/officeDocument/2006/relationships/hyperlink" Target="http://localhost:5000/dashboard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HadarBaum/asvspoof-voice-ai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977639"/>
            <a:ext cx="12191695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46888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Calibri"/>
              </a:defRPr>
            </a:pPr>
            <a:r>
              <a:t>Human-or-AI Voice Detector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CBD5E1"/>
                </a:solidFill>
                <a:latin typeface="Calibri"/>
              </a:defRPr>
            </a:pPr>
            <a:r>
              <a:t>BIU Big Data and AI course project — ASVspoof2019 (Logical Access)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5196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D9488"/>
                </a:solidFill>
                <a:latin typeface="Calibri"/>
              </a:defRPr>
            </a:pPr>
            <a:r>
              <a:t>MinIO · Apache Spark · Apache Kafka · Elasticsearch · scikit-learn · Flask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80644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FFFFFF"/>
                </a:solidFill>
                <a:latin typeface="Calibri"/>
              </a:defRPr>
            </a:pPr>
            <a:r>
              <a:t>Beny Rojanski  ·  Renana Chaba  ·  Hadar Baum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Problem &amp; dataset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1094415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>
                <a:solidFill>
                  <a:srgbClr val="1A202C"/>
                </a:solidFill>
                <a:latin typeface="Calibri"/>
              </a:defRPr>
            </a:pPr>
            <a:r>
              <a:t>•  Can we tell real human speech apart from AI-generated (TTS / voice-conversion) speech?</a:t>
            </a:r>
          </a:p>
          <a:p>
            <a:pPr>
              <a:spcAft>
                <a:spcPts val="1200"/>
              </a:spcAft>
              <a:defRPr sz="1900">
                <a:solidFill>
                  <a:srgbClr val="1A202C"/>
                </a:solidFill>
                <a:latin typeface="Calibri"/>
              </a:defRPr>
            </a:pPr>
            <a:r>
              <a:t>•  ASVspoof2019 Logical Access partition: bonafide vs. spoofed utterances</a:t>
            </a:r>
          </a:p>
          <a:p>
            <a:pPr>
              <a:spcAft>
                <a:spcPts val="1200"/>
              </a:spcAft>
              <a:defRPr sz="1900">
                <a:solidFill>
                  <a:srgbClr val="1A202C"/>
                </a:solidFill>
                <a:latin typeface="Calibri"/>
              </a:defRPr>
            </a:pPr>
            <a:r>
              <a:t>•  ~121k labeled flac clips across train / dev / eval, speaker-disjoint splits</a:t>
            </a:r>
          </a:p>
          <a:p>
            <a:pPr>
              <a:spcAft>
                <a:spcPts val="1200"/>
              </a:spcAft>
              <a:defRPr sz="1900">
                <a:solidFill>
                  <a:srgbClr val="1A202C"/>
                </a:solidFill>
                <a:latin typeface="Calibri"/>
              </a:defRPr>
            </a:pPr>
            <a:r>
              <a:t>•  PA (replay-attack) partition intentionally excluded — not AI-generated speech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CBD5E1"/>
                </a:solidFill>
                <a:latin typeface="Calibri"/>
              </a:defRPr>
            </a:pPr>
            <a:r>
              <a:t>The full pipeline, end to end - object store to serving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371600"/>
            <a:ext cx="2602153" cy="975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1250" b="1">
                <a:solidFill>
                  <a:srgbClr val="1A202C"/>
                </a:solidFill>
                <a:latin typeface="Calibri"/>
              </a:defRPr>
            </a:pPr>
            <a:r>
              <a:t>Kaggle: ASVspoof2019 LA</a:t>
            </a:r>
          </a:p>
          <a:p>
            <a:pPr algn="ctr">
              <a:defRPr sz="950">
                <a:solidFill>
                  <a:srgbClr val="64748B"/>
                </a:solidFill>
                <a:latin typeface="Calibri"/>
              </a:defRPr>
            </a:pPr>
            <a:r>
              <a:t>download_dataset.py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79393" y="1371600"/>
            <a:ext cx="2602153" cy="975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1250" b="1">
                <a:solidFill>
                  <a:srgbClr val="1A202C"/>
                </a:solidFill>
                <a:latin typeface="Calibri"/>
              </a:defRPr>
            </a:pPr>
            <a:r>
              <a:t>MinIO</a:t>
            </a:r>
          </a:p>
          <a:p>
            <a:pPr algn="ctr">
              <a:defRPr sz="950">
                <a:solidFill>
                  <a:srgbClr val="64748B"/>
                </a:solidFill>
                <a:latin typeface="Calibri"/>
              </a:defRPr>
            </a:pPr>
            <a:r>
              <a:t>object store - raw audio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0146" y="1371600"/>
            <a:ext cx="2602153" cy="975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1250" b="1">
                <a:solidFill>
                  <a:srgbClr val="1A202C"/>
                </a:solidFill>
                <a:latin typeface="Calibri"/>
              </a:defRPr>
            </a:pPr>
            <a:r>
              <a:t>Spark</a:t>
            </a:r>
          </a:p>
          <a:p>
            <a:pPr algn="ctr">
              <a:defRPr sz="950">
                <a:solidFill>
                  <a:srgbClr val="64748B"/>
                </a:solidFill>
                <a:latin typeface="Calibri"/>
              </a:defRPr>
            </a:pPr>
            <a:r>
              <a:t>batch_feature_extraction.py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40899" y="1371600"/>
            <a:ext cx="2602153" cy="975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1250" b="1">
                <a:solidFill>
                  <a:srgbClr val="1A202C"/>
                </a:solidFill>
                <a:latin typeface="Calibri"/>
              </a:defRPr>
            </a:pPr>
            <a:r>
              <a:t>Parquet +</a:t>
            </a:r>
          </a:p>
          <a:p>
            <a:pPr algn="ctr">
              <a:defRPr sz="1250" b="1">
                <a:solidFill>
                  <a:srgbClr val="1A202C"/>
                </a:solidFill>
                <a:latin typeface="Calibri"/>
              </a:defRPr>
            </a:pPr>
            <a:r>
              <a:t>Elasticsearch</a:t>
            </a:r>
          </a:p>
          <a:p>
            <a:pPr algn="ctr">
              <a:defRPr sz="950">
                <a:solidFill>
                  <a:srgbClr val="64748B"/>
                </a:solidFill>
                <a:latin typeface="Calibri"/>
              </a:defRPr>
            </a:pPr>
            <a:r>
              <a:t>feature table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849880"/>
            <a:ext cx="3545738" cy="975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1250" b="1">
                <a:solidFill>
                  <a:srgbClr val="1A202C"/>
                </a:solidFill>
                <a:latin typeface="Calibri"/>
              </a:defRPr>
            </a:pPr>
            <a:r>
              <a:t>train_classifier.py</a:t>
            </a:r>
          </a:p>
          <a:p>
            <a:pPr algn="ctr">
              <a:defRPr sz="950">
                <a:solidFill>
                  <a:srgbClr val="64748B"/>
                </a:solidFill>
                <a:latin typeface="Calibri"/>
              </a:defRPr>
            </a:pPr>
            <a:r>
              <a:t>RF vs Gradient Boosting -&gt;</a:t>
            </a:r>
          </a:p>
          <a:p>
            <a:pPr algn="ctr">
              <a:defRPr sz="950">
                <a:solidFill>
                  <a:srgbClr val="64748B"/>
                </a:solidFill>
                <a:latin typeface="Calibri"/>
              </a:defRPr>
            </a:pPr>
            <a:r>
              <a:t>model + EER threshold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22978" y="2849880"/>
            <a:ext cx="3545738" cy="975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1250" b="1">
                <a:solidFill>
                  <a:srgbClr val="1A202C"/>
                </a:solidFill>
                <a:latin typeface="Calibri"/>
              </a:defRPr>
            </a:pPr>
            <a:r>
              <a:t>index_embeddings.py</a:t>
            </a:r>
          </a:p>
          <a:p>
            <a:pPr algn="ctr">
              <a:defRPr sz="950">
                <a:solidFill>
                  <a:srgbClr val="64748B"/>
                </a:solidFill>
                <a:latin typeface="Calibri"/>
              </a:defRPr>
            </a:pPr>
            <a:r>
              <a:t>standardize -&gt;</a:t>
            </a:r>
          </a:p>
          <a:p>
            <a:pPr algn="ctr">
              <a:defRPr sz="950">
                <a:solidFill>
                  <a:srgbClr val="64748B"/>
                </a:solidFill>
                <a:latin typeface="Calibri"/>
              </a:defRPr>
            </a:pPr>
            <a:r>
              <a:t>k-NN embeddings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7316" y="2849880"/>
            <a:ext cx="3545738" cy="975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1250" b="1">
                <a:solidFill>
                  <a:srgbClr val="1A202C"/>
                </a:solidFill>
                <a:latin typeface="Calibri"/>
              </a:defRPr>
            </a:pPr>
            <a:r>
              <a:t>kafka_producer.py -&gt;</a:t>
            </a:r>
          </a:p>
          <a:p>
            <a:pPr algn="ctr">
              <a:defRPr sz="1250" b="1">
                <a:solidFill>
                  <a:srgbClr val="1A202C"/>
                </a:solidFill>
                <a:latin typeface="Calibri"/>
              </a:defRPr>
            </a:pPr>
            <a:r>
              <a:t>streaming_enrichment.py</a:t>
            </a:r>
          </a:p>
          <a:p>
            <a:pPr algn="ctr">
              <a:defRPr sz="950">
                <a:solidFill>
                  <a:srgbClr val="64748B"/>
                </a:solidFill>
                <a:latin typeface="Calibri"/>
              </a:defRPr>
            </a:pPr>
            <a:r>
              <a:t>near-real-time scoring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328160"/>
            <a:ext cx="5432907" cy="975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1250" b="1">
                <a:solidFill>
                  <a:srgbClr val="1A202C"/>
                </a:solidFill>
                <a:latin typeface="Calibri"/>
              </a:defRPr>
            </a:pPr>
            <a:r>
              <a:t>insights.py</a:t>
            </a:r>
          </a:p>
          <a:p>
            <a:pPr algn="ctr">
              <a:defRPr sz="950">
                <a:solidFill>
                  <a:srgbClr val="64748B"/>
                </a:solidFill>
                <a:latin typeface="Calibri"/>
              </a:defRPr>
            </a:pPr>
            <a:r>
              <a:t>aggregations -&gt; charts + RESULTS.md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0147" y="4328160"/>
            <a:ext cx="5432907" cy="975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1250" b="1">
                <a:solidFill>
                  <a:srgbClr val="1A202C"/>
                </a:solidFill>
                <a:latin typeface="Calibri"/>
              </a:defRPr>
            </a:pPr>
            <a:r>
              <a:t>Flask app</a:t>
            </a:r>
          </a:p>
          <a:p>
            <a:pPr algn="ctr">
              <a:defRPr sz="950">
                <a:solidFill>
                  <a:srgbClr val="64748B"/>
                </a:solidFill>
                <a:latin typeface="Calibri"/>
              </a:defRPr>
            </a:pPr>
            <a:r>
              <a:t>/classify + /dashboard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150793" y="1859280"/>
            <a:ext cx="228600" cy="0"/>
          </a:xfrm>
          <a:prstGeom prst="line">
            <a:avLst/>
          </a:prstGeom>
          <a:ln w="15875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5981546" y="1859280"/>
            <a:ext cx="228600" cy="0"/>
          </a:xfrm>
          <a:prstGeom prst="line">
            <a:avLst/>
          </a:prstGeom>
          <a:ln w="15875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812299" y="1859280"/>
            <a:ext cx="228600" cy="0"/>
          </a:xfrm>
          <a:prstGeom prst="line">
            <a:avLst/>
          </a:prstGeom>
          <a:ln w="15875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2321509" y="2346960"/>
            <a:ext cx="8020466" cy="502920"/>
          </a:xfrm>
          <a:prstGeom prst="line">
            <a:avLst/>
          </a:prstGeom>
          <a:ln w="15875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6095847" y="2346960"/>
            <a:ext cx="4246128" cy="502920"/>
          </a:xfrm>
          <a:prstGeom prst="line">
            <a:avLst/>
          </a:prstGeom>
          <a:ln w="15875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9870185" y="2346960"/>
            <a:ext cx="471790" cy="502920"/>
          </a:xfrm>
          <a:prstGeom prst="line">
            <a:avLst/>
          </a:prstGeom>
          <a:ln w="15875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321509" y="3825240"/>
            <a:ext cx="943584" cy="502920"/>
          </a:xfrm>
          <a:prstGeom prst="line">
            <a:avLst/>
          </a:prstGeom>
          <a:ln w="15875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2321509" y="3825240"/>
            <a:ext cx="6605091" cy="502920"/>
          </a:xfrm>
          <a:prstGeom prst="line">
            <a:avLst/>
          </a:prstGeom>
          <a:ln w="15875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6095847" y="3825240"/>
            <a:ext cx="2830753" cy="502920"/>
          </a:xfrm>
          <a:prstGeom prst="line">
            <a:avLst/>
          </a:prstGeom>
          <a:ln w="15875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3265093" y="3825240"/>
            <a:ext cx="6605092" cy="502920"/>
          </a:xfrm>
          <a:prstGeom prst="line">
            <a:avLst/>
          </a:prstGeom>
          <a:ln w="15875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8926600" y="3825240"/>
            <a:ext cx="943585" cy="502920"/>
          </a:xfrm>
          <a:prstGeom prst="line">
            <a:avLst/>
          </a:prstGeom>
          <a:ln w="15875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>
            <a:hlinkClick r:id="rId2"/>
          </p:cNvPr>
          <p:cNvSpPr/>
          <p:nvPr/>
        </p:nvSpPr>
        <p:spPr>
          <a:xfrm>
            <a:off x="548640" y="5440680"/>
            <a:ext cx="3931920" cy="457200"/>
          </a:xfrm>
          <a:prstGeom prst="roundRect">
            <a:avLst>
              <a:gd name="adj" fmla="val 6000"/>
            </a:avLst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FFFFFF"/>
                </a:solidFill>
                <a:latin typeface="Calibri"/>
              </a:defRPr>
            </a:pPr>
            <a:r>
              <a:t>View exact diagram in DESIGN.md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54880" y="5559552"/>
            <a:ext cx="68881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  <a:latin typeface="Calibri"/>
              </a:defRPr>
            </a:pPr>
            <a:r>
              <a:t>Same architecture as the Mermaid flowchart in docs/DESIGN.md, redrawn natively for the deck.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Pipeline stage 0-1 - Ingest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CBD5E1"/>
                </a:solidFill>
                <a:latin typeface="Calibri"/>
              </a:defRPr>
            </a:pPr>
            <a:r>
              <a:t>Kaggle corpus -&gt; MinIO object store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1094415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>
                <a:solidFill>
                  <a:srgbClr val="1A202C"/>
                </a:solidFill>
                <a:latin typeface="Calibri"/>
              </a:defRPr>
            </a:pPr>
            <a:r>
              <a:t>•  download_dataset.py pulls the ASVspoof2019 LA corpus (~121k flac files) from Kaggle via its API into data/raw/ — a one-time step, gated on a Kaggle API token.</a:t>
            </a:r>
          </a:p>
          <a:p>
            <a:pPr>
              <a:spcAft>
                <a:spcPts val="1200"/>
              </a:spcAft>
              <a:defRPr sz="1500">
                <a:solidFill>
                  <a:srgbClr val="1A202C"/>
                </a:solidFill>
                <a:latin typeface="Calibri"/>
              </a:defRPr>
            </a:pPr>
            <a:r>
              <a:t>•  ingest_to_minio.py uploads every labeled utterance into MinIO, an S3-compatible object store, keyed by partition and filename.</a:t>
            </a:r>
          </a:p>
          <a:p>
            <a:pPr>
              <a:spcAft>
                <a:spcPts val="1200"/>
              </a:spcAft>
              <a:defRPr sz="1500">
                <a:solidFill>
                  <a:srgbClr val="1A202C"/>
                </a:solidFill>
                <a:latin typeface="Calibri"/>
              </a:defRPr>
            </a:pPr>
            <a:r>
              <a:t>•  32 concurrent upload threads by default — this step is I/O-bound (many small files), so threading helps a lot even though Python threads don't parallelize CPU work.</a:t>
            </a:r>
          </a:p>
          <a:p>
            <a:pPr>
              <a:spcAft>
                <a:spcPts val="1200"/>
              </a:spcAft>
              <a:defRPr sz="1500">
                <a:solidFill>
                  <a:srgbClr val="1A202C"/>
                </a:solidFill>
                <a:latin typeface="Calibri"/>
              </a:defRPr>
            </a:pPr>
            <a:r>
              <a:t>•  Downstream steps (the Spark job, the streaming consumer, the Flask app) always fetch audio by key from MinIO, never the local filesystem — any worker, anywhere, can read a clip.</a:t>
            </a:r>
          </a:p>
          <a:p>
            <a:pPr>
              <a:spcAft>
                <a:spcPts val="1200"/>
              </a:spcAft>
              <a:defRPr sz="1500">
                <a:solidFill>
                  <a:srgbClr val="1A202C"/>
                </a:solidFill>
                <a:latin typeface="Calibri"/>
              </a:defRPr>
            </a:pPr>
            <a:r>
              <a:t>•  Protocol metadata (speaker id, attack id, bonafide/spoof label) stays in small local text files — only the audio bytes, the actually "big" unstructured data, go into the object store.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636008"/>
            <a:ext cx="1109441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Calibri"/>
              </a:defRPr>
            </a:pPr>
            <a:r>
              <a:t>Where this stage sits in the pipeline: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Kaggle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58819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0D9488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FFFFFF"/>
                </a:solidFill>
                <a:latin typeface="Calibri"/>
              </a:defRPr>
            </a:pPr>
            <a:r>
              <a:t>MinIO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68998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Spark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79177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Parquet + 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train_classifier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5546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index_embeddings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2452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kafka -&gt; streaming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6141720"/>
            <a:ext cx="547405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insights.py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8999" y="6141720"/>
            <a:ext cx="547405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Flask app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212515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022694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832873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2348941" y="5334000"/>
            <a:ext cx="7962173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6095847" y="5334000"/>
            <a:ext cx="4215267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9842753" y="5334000"/>
            <a:ext cx="468361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2348941" y="5958840"/>
            <a:ext cx="936726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2348941" y="5958840"/>
            <a:ext cx="6557085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095847" y="5958840"/>
            <a:ext cx="2810179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3285667" y="5958840"/>
            <a:ext cx="6557086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8906026" y="5958840"/>
            <a:ext cx="936727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Pipeline stage 2 - Transform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CBD5E1"/>
                </a:solidFill>
                <a:latin typeface="Calibri"/>
              </a:defRPr>
            </a:pPr>
            <a:r>
              <a:t>Spark batch feature extraction — the actual "big data" step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1094415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batch_feature_extraction.py reads the train+dev protocol metadata and fans out across Spark executors, one task per partition of utterances.</a:t>
            </a:r>
          </a:p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Each executor fetches its share of clips' audio bytes from MinIO and computes a fixed-length acoustic feature vector (20 MFCCs + spectral/pitch/energy statistics) via common.features.extract_features — the same function used everywhere else in this project.</a:t>
            </a:r>
          </a:p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~50k train+dev audio files decoded and feature-extracted in parallel across cores instead of one Python process working through them serially — this is the real "big data" step, not model training itself.</a:t>
            </a:r>
          </a:p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Driver and executors are both pinned to sys.executable so Spark workers resolve the same Python/venv as the driver, instead of whatever `python` happens to be on PATH.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636008"/>
            <a:ext cx="1109441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Calibri"/>
              </a:defRPr>
            </a:pPr>
            <a:r>
              <a:t>Where this stage sits in the pipeline: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Kaggle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58819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MinIO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68998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0D9488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FFFFFF"/>
                </a:solidFill>
                <a:latin typeface="Calibri"/>
              </a:defRPr>
            </a:pPr>
            <a:r>
              <a:t>Spark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79177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Parquet + 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train_classifier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5546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index_embeddings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2452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kafka -&gt; streaming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6141720"/>
            <a:ext cx="547405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insights.py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8999" y="6141720"/>
            <a:ext cx="547405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Flask app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212515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022694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832873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2348941" y="5334000"/>
            <a:ext cx="7962173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6095847" y="5334000"/>
            <a:ext cx="4215267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9842753" y="5334000"/>
            <a:ext cx="468361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2348941" y="5958840"/>
            <a:ext cx="936726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2348941" y="5958840"/>
            <a:ext cx="6557085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095847" y="5958840"/>
            <a:ext cx="2810179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3285667" y="5958840"/>
            <a:ext cx="6557086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8906026" y="5958840"/>
            <a:ext cx="936727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What's in the feature vector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CBD5E1"/>
                </a:solidFill>
                <a:latin typeface="Calibri"/>
              </a:defRPr>
            </a:pPr>
            <a:r>
              <a:t>53 numbers per clip — one shared function, one fixed shape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71600"/>
          <a:ext cx="11094413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9026"/>
                <a:gridCol w="935673"/>
                <a:gridCol w="6549714"/>
              </a:tblGrid>
              <a:tr h="50292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Group</a:t>
                      </a:r>
                    </a:p>
                  </a:txBody>
                  <a:tcPr anchor="ctr" marL="109728" marR="109728">
                    <a:solidFill>
                      <a:srgbClr val="0F29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Count</a:t>
                      </a:r>
                    </a:p>
                  </a:txBody>
                  <a:tcPr anchor="ctr" marL="109728" marR="109728">
                    <a:solidFill>
                      <a:srgbClr val="0F29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What it captures</a:t>
                      </a:r>
                    </a:p>
                  </a:txBody>
                  <a:tcPr anchor="ctr" marL="109728" marR="109728">
                    <a:solidFill>
                      <a:srgbClr val="0F294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MFCCs (20 coeffs × mean/std)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40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Vocal-tract spectral envelope — timbre/voice quality, the model's top group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Spectral shape (centroid/bandwidth/rolloff)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6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Brightness, spread, and energy roll-off of the spectrum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Signal level (zero-crossing rate, RMS energy)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Noisiness and loudness over time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Pitch (F0, 50-500Hz via librosa.yin)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Fundamental frequency mean/std, human vocal range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Duration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Clip length in seconds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0D9488"/>
                          </a:solidFill>
                          <a:latin typeface="Calibri"/>
                        </a:defRPr>
                      </a:pPr>
                      <a:r>
                        <a:t>Total</a:t>
                      </a:r>
                    </a:p>
                  </a:txBody>
                  <a:tcPr anchor="ctr" marL="109728" marR="109728">
                    <a:solidFill>
                      <a:srgbClr val="E6FF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0D9488"/>
                          </a:solidFill>
                          <a:latin typeface="Calibri"/>
                        </a:defRPr>
                      </a:pPr>
                      <a:r>
                        <a:t>53</a:t>
                      </a:r>
                    </a:p>
                  </a:txBody>
                  <a:tcPr anchor="ctr" marL="109728" marR="109728">
                    <a:solidFill>
                      <a:srgbClr val="E6FF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0D9488"/>
                          </a:solidFill>
                          <a:latin typeface="Calibri"/>
                        </a:defRPr>
                      </a:pPr>
                      <a:r>
                        <a:t>One fixed-length row per clip, any duration</a:t>
                      </a:r>
                    </a:p>
                  </a:txBody>
                  <a:tcPr anchor="ctr" marL="109728" marR="109728">
                    <a:solidFill>
                      <a:srgbClr val="E6FF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5230368"/>
            <a:ext cx="11094415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>
                <a:solidFill>
                  <a:srgbClr val="1A202C"/>
                </a:solidFill>
                <a:latin typeface="Calibri"/>
              </a:defRPr>
            </a:pPr>
            <a:r>
              <a:t>•  Mean + std of frame-level features, not raw sequences — every clip, any length, maps to the same 53-column row a tabular classifier expects.</a:t>
            </a:r>
          </a:p>
          <a:p>
            <a:pPr>
              <a:spcAft>
                <a:spcPts val="1200"/>
              </a:spcAft>
              <a:defRPr sz="1200">
                <a:solidFill>
                  <a:srgbClr val="1A202C"/>
                </a:solidFill>
                <a:latin typeface="Calibri"/>
              </a:defRPr>
            </a:pPr>
            <a:r>
              <a:t>•  One function, common/features.py:extract_features(), computes this for the Spark batch job, the Kafka consumer, and the live /classify endpoint — training and inference match exactly.</a:t>
            </a:r>
          </a:p>
          <a:p>
            <a:pPr>
              <a:spcAft>
                <a:spcPts val="1200"/>
              </a:spcAft>
              <a:defRPr sz="1200">
                <a:solidFill>
                  <a:srgbClr val="1A202C"/>
                </a:solidFill>
                <a:latin typeface="Calibri"/>
              </a:defRPr>
            </a:pPr>
            <a:r>
              <a:t>•  Pitch uses plain librosa.yin, not pyin — pyin's HMM smoothing measured 2-9s/clip; across 50k+ clips, yin gets a comparable signal in ~0.02s.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Pipeline stage 2 - Load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CBD5E1"/>
                </a:solidFill>
                <a:latin typeface="Calibri"/>
              </a:defRPr>
            </a:pPr>
            <a:r>
              <a:t>Feature table -&gt; Parquet + Elasticsearch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1094415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Every feature row the Spark job computes is written to two places at once, in the same run.</a:t>
            </a:r>
          </a:p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Parquet (pipeline/features_train_dev.parquet) — the input train_classifier.py and index_embeddings.py train from.</a:t>
            </a:r>
          </a:p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Elasticsearch's asvspoof-training-features index — the same rows, so aggregations/insights can run without re-reading Parquet.</a:t>
            </a:r>
          </a:p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Elasticsearch (a NoSQL document store) goes on to hold training results, live streamed predictions, and — once standardized — dense_vector embeddings for k-NN search, all in the same cluster.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636008"/>
            <a:ext cx="1109441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Calibri"/>
              </a:defRPr>
            </a:pPr>
            <a:r>
              <a:t>Where this stage sits in the pipeline: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Kaggle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58819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MinIO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68998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Spark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79177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0D9488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FFFFFF"/>
                </a:solidFill>
                <a:latin typeface="Calibri"/>
              </a:defRPr>
            </a:pPr>
            <a:r>
              <a:t>Parquet + 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train_classifier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5546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index_embeddings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2452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kafka -&gt; streaming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6141720"/>
            <a:ext cx="547405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insights.py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8999" y="6141720"/>
            <a:ext cx="547405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Flask app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212515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022694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832873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2348941" y="5334000"/>
            <a:ext cx="7962173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6095847" y="5334000"/>
            <a:ext cx="4215267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9842753" y="5334000"/>
            <a:ext cx="468361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2348941" y="5958840"/>
            <a:ext cx="936726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2348941" y="5958840"/>
            <a:ext cx="6557085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095847" y="5958840"/>
            <a:ext cx="2810179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3285667" y="5958840"/>
            <a:ext cx="6557086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8906026" y="5958840"/>
            <a:ext cx="936727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AI capability 1 — classification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CBD5E1"/>
                </a:solidFill>
                <a:latin typeface="Calibri"/>
              </a:defRPr>
            </a:pPr>
            <a:r>
              <a:t>Random Forest vs. Gradient Boosting, picked by EER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109441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>
                <a:solidFill>
                  <a:srgbClr val="1A202C"/>
                </a:solidFill>
                <a:latin typeface="Calibri"/>
              </a:defRPr>
            </a:pPr>
            <a:r>
              <a:t>•  Both models reweighted for the ~9:1 spoof/bonafide imbalance in training data, then compared on dev: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65960"/>
          <a:ext cx="11094414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2291"/>
                <a:gridCol w="2641527"/>
                <a:gridCol w="2641527"/>
                <a:gridCol w="1849069"/>
              </a:tblGrid>
              <a:tr h="50292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Model</a:t>
                      </a:r>
                    </a:p>
                  </a:txBody>
                  <a:tcPr anchor="ctr" marL="109728" marR="109728">
                    <a:solidFill>
                      <a:srgbClr val="0F29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EER (lower is better)</a:t>
                      </a:r>
                    </a:p>
                  </a:txBody>
                  <a:tcPr anchor="ctr" marL="109728" marR="109728">
                    <a:solidFill>
                      <a:srgbClr val="0F29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ROC-AUC</a:t>
                      </a:r>
                    </a:p>
                  </a:txBody>
                  <a:tcPr anchor="ctr" marL="109728" marR="109728">
                    <a:solidFill>
                      <a:srgbClr val="0F29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Deployed</a:t>
                      </a:r>
                    </a:p>
                  </a:txBody>
                  <a:tcPr anchor="ctr" marL="109728" marR="109728">
                    <a:solidFill>
                      <a:srgbClr val="0F294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Random Forest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9.09%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0.969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0D9488"/>
                          </a:solidFill>
                          <a:latin typeface="Calibri"/>
                        </a:defRPr>
                      </a:pPr>
                      <a:r>
                        <a:t>Gradient Boosting</a:t>
                      </a:r>
                    </a:p>
                  </a:txBody>
                  <a:tcPr anchor="ctr" marL="109728" marR="109728">
                    <a:solidFill>
                      <a:srgbClr val="E6FF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0D9488"/>
                          </a:solidFill>
                          <a:latin typeface="Calibri"/>
                        </a:defRPr>
                      </a:pPr>
                      <a:r>
                        <a:t>9.26%</a:t>
                      </a:r>
                    </a:p>
                  </a:txBody>
                  <a:tcPr anchor="ctr" marL="109728" marR="109728">
                    <a:solidFill>
                      <a:srgbClr val="E6FF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0D9488"/>
                          </a:solidFill>
                          <a:latin typeface="Calibri"/>
                        </a:defRPr>
                      </a:pPr>
                      <a:r>
                        <a:t>0.970</a:t>
                      </a:r>
                    </a:p>
                  </a:txBody>
                  <a:tcPr anchor="ctr" marL="109728" marR="109728">
                    <a:solidFill>
                      <a:srgbClr val="E6FF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0D9488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 anchor="ctr" marL="109728" marR="109728">
                    <a:solidFill>
                      <a:srgbClr val="E6FF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365760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>
                <a:solidFill>
                  <a:srgbClr val="1A202C"/>
                </a:solidFill>
                <a:latin typeface="Calibri"/>
              </a:defRPr>
            </a:pPr>
            <a:r>
              <a:t>•  A statistical tie on EER — the gap is ~3 clips in 2,548. Gradient Boosting is deployed for calibration and cost: 80.2% bonafide recall at the default threshold vs. 26.6%, 283KB vs. 29.7MB on disk, 0.55ms vs. 27.6ms per clip.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636008"/>
            <a:ext cx="1109441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Calibri"/>
              </a:defRPr>
            </a:pPr>
            <a:r>
              <a:t>Where this stage sits in the pipeline: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Kaggle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58819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MinIO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8998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Spark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79177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Parquet + 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0D9488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FFFFFF"/>
                </a:solidFill>
                <a:latin typeface="Calibri"/>
              </a:defRPr>
            </a:pPr>
            <a:r>
              <a:t>train_classifier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5546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index_embeddings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2452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kafka -&gt; streaming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6141720"/>
            <a:ext cx="547405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insights.py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8999" y="6141720"/>
            <a:ext cx="547405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Flask app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212515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6022694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832873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2348941" y="5334000"/>
            <a:ext cx="7962173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>
            <a:off x="6095847" y="5334000"/>
            <a:ext cx="4215267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9842753" y="5334000"/>
            <a:ext cx="468361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2348941" y="5958840"/>
            <a:ext cx="936726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2348941" y="5958840"/>
            <a:ext cx="6557085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6095847" y="5958840"/>
            <a:ext cx="2810179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H="1">
            <a:off x="3285667" y="5958840"/>
            <a:ext cx="6557086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H="1">
            <a:off x="8906026" y="5958840"/>
            <a:ext cx="936727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How EER is calculated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CBD5E1"/>
                </a:solidFill>
                <a:latin typeface="Calibri"/>
              </a:defRPr>
            </a:pPr>
            <a:r>
              <a:t>A secondary ASVspoof2019 metric - min t-DCF was the primary 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1094415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Score every dev utterance with the model, giving each one a P(spoof) between 0 and 1.</a:t>
            </a:r>
          </a:p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Sweep every possible decision threshold and, at each one, compute two error rates: the false-acceptance rate (bonafide clips wrongly called spoof) and the false-rejection rate (spoof clips wrongly called bonafide).</a:t>
            </a:r>
          </a:p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As the threshold moves, one error rate goes up while the other goes down — the Equal Error Rate is the threshold where the two curves cross, i.e. where both error rates are equal.</a:t>
            </a:r>
          </a:p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EER itself is that shared error rate at the crossing point; the threshold at that point is what actually gets deployed (see the model artifact in common/model.py).</a:t>
            </a:r>
          </a:p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Lower EER = better separation. 0% would mean a threshold exists with zero errors of either kind; this project's deployed model scores 9.26%. EER was a secondary ASVspoof2019 metric (min t-DCF was primary) - we use it because it needs no cost model.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349240"/>
            <a:ext cx="11094415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468112"/>
            <a:ext cx="106372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0F2942"/>
                </a:solidFill>
                <a:latin typeface="Consolas"/>
              </a:defRPr>
            </a:pPr>
            <a:r>
              <a:t>fpr, tpr, thresholds = roc_curve(y_true_spoof, y_score_spoof)</a:t>
            </a:r>
          </a:p>
          <a:p>
            <a:pPr>
              <a:defRPr sz="1300">
                <a:solidFill>
                  <a:srgbClr val="0F2942"/>
                </a:solidFill>
                <a:latin typeface="Consolas"/>
              </a:defRPr>
            </a:pPr>
            <a:r>
              <a:t>fnr = 1 - tpr</a:t>
            </a:r>
          </a:p>
          <a:p>
            <a:pPr>
              <a:defRPr sz="1300">
                <a:solidFill>
                  <a:srgbClr val="0F2942"/>
                </a:solidFill>
                <a:latin typeface="Consolas"/>
              </a:defRPr>
            </a:pPr>
            <a:r>
              <a:t>eer_idx = argmin(abs(fnr - fpr))   # where the two curves are closest</a:t>
            </a:r>
          </a:p>
          <a:p>
            <a:pPr>
              <a:defRPr sz="1300">
                <a:solidFill>
                  <a:srgbClr val="0F2942"/>
                </a:solidFill>
                <a:latin typeface="Consolas"/>
              </a:defRPr>
            </a:pPr>
            <a:r>
              <a:t>eer, threshold = (fpr[eer_idx] + fnr[eer_idx]) / 2,  thresholds[eer_idx]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Results on dev — the accuracy paradox, found and fixed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17320"/>
            <a:ext cx="3515258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18488"/>
            <a:ext cx="3515258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400" b="1">
                <a:solidFill>
                  <a:srgbClr val="DC2626"/>
                </a:solidFill>
                <a:latin typeface="Calibri"/>
              </a:defRPr>
            </a:pPr>
            <a:r>
              <a:t>80%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7440"/>
            <a:ext cx="333237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Bonafide recall</a:t>
            </a:r>
          </a:p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at default 0.5 threshold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38218" y="1417320"/>
            <a:ext cx="3515258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38218" y="1618488"/>
            <a:ext cx="3515258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400" b="1">
                <a:solidFill>
                  <a:srgbClr val="0D9488"/>
                </a:solidFill>
                <a:latin typeface="Calibri"/>
              </a:defRPr>
            </a:pPr>
            <a:r>
              <a:t>91%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29658" y="2377440"/>
            <a:ext cx="333237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Bonafide recall</a:t>
            </a:r>
          </a:p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at deployed EER threshold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27796" y="1417320"/>
            <a:ext cx="3515258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27796" y="1618488"/>
            <a:ext cx="3515258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400" b="1">
                <a:solidFill>
                  <a:srgbClr val="2B6CB0"/>
                </a:solidFill>
                <a:latin typeface="Calibri"/>
              </a:defRPr>
            </a:pPr>
            <a:r>
              <a:t>9.3%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19236" y="2377440"/>
            <a:ext cx="333237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Equal Error Rate</a:t>
            </a:r>
          </a:p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(ASVspoof's own metric)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090672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>
                <a:solidFill>
                  <a:srgbClr val="1A202C"/>
                </a:solidFill>
                <a:latin typeface="Calibri"/>
              </a:defRPr>
            </a:pPr>
            <a:r>
              <a:t>•  Dev accuracy at 0.5 looked strong (94.3%), but the model was quietly biased to the majority class.</a:t>
            </a:r>
          </a:p>
          <a:p>
            <a:pPr>
              <a:spcAft>
                <a:spcPts val="1200"/>
              </a:spcAft>
              <a:defRPr sz="1400">
                <a:solidFill>
                  <a:srgbClr val="1A202C"/>
                </a:solidFill>
                <a:latin typeface="Calibri"/>
              </a:defRPr>
            </a:pPr>
            <a:r>
              <a:t>•  Fix: the artifact stores its own EER-optimal threshold, used everywhere instead of the default 0.5.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548640" y="4251960"/>
          <a:ext cx="11094414" cy="25237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20901"/>
                <a:gridCol w="2890141"/>
                <a:gridCol w="2983372"/>
              </a:tblGrid>
              <a:tr h="420624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Gradient Boosting on dev</a:t>
                      </a:r>
                    </a:p>
                  </a:txBody>
                  <a:tcPr anchor="ctr" marL="109728" marR="109728">
                    <a:solidFill>
                      <a:srgbClr val="0F29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@ default 0.5</a:t>
                      </a:r>
                    </a:p>
                  </a:txBody>
                  <a:tcPr anchor="ctr" marL="109728" marR="109728">
                    <a:solidFill>
                      <a:srgbClr val="0F29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@ EER 0.689</a:t>
                      </a:r>
                    </a:p>
                  </a:txBody>
                  <a:tcPr anchor="ctr" marL="109728" marR="109728">
                    <a:solidFill>
                      <a:srgbClr val="0F294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Bonafide recall (real speech kept)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80.2%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90.7%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Bonafide precision (the cost)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69.1%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52.8%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Spoof recall (attacks caught)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95.9%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90.7%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Overall accuracy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94.3%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90.7%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D9488"/>
                          </a:solidFill>
                          <a:latin typeface="Calibri"/>
                        </a:defRPr>
                      </a:pPr>
                      <a:r>
                        <a:t>Balanced accuracy (the honest headline)</a:t>
                      </a:r>
                    </a:p>
                  </a:txBody>
                  <a:tcPr anchor="ctr" marL="109728" marR="109728">
                    <a:solidFill>
                      <a:srgbClr val="E6FF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D9488"/>
                          </a:solidFill>
                          <a:latin typeface="Calibri"/>
                        </a:defRPr>
                      </a:pPr>
                      <a:r>
                        <a:t>88.0%</a:t>
                      </a:r>
                    </a:p>
                  </a:txBody>
                  <a:tcPr anchor="ctr" marL="109728" marR="109728">
                    <a:solidFill>
                      <a:srgbClr val="E6FF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D9488"/>
                          </a:solidFill>
                          <a:latin typeface="Calibri"/>
                        </a:defRPr>
                      </a:pPr>
                      <a:r>
                        <a:t>90.7%</a:t>
                      </a:r>
                    </a:p>
                  </a:txBody>
                  <a:tcPr anchor="ctr" marL="109728" marR="109728">
                    <a:solidFill>
                      <a:srgbClr val="E6FF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Results on dev — ROC curve &amp; what the model learned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10</a:t>
            </a:r>
          </a:p>
        </p:txBody>
      </p:sp>
      <p:pic>
        <p:nvPicPr>
          <p:cNvPr id="6" name="Picture 5" descr="roc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643" y="1417320"/>
            <a:ext cx="4892040" cy="4892040"/>
          </a:xfrm>
          <a:prstGeom prst="rect">
            <a:avLst/>
          </a:prstGeom>
        </p:spPr>
      </p:pic>
      <p:pic>
        <p:nvPicPr>
          <p:cNvPr id="7" name="Picture 6" descr="feature_import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2059991"/>
            <a:ext cx="5410047" cy="360669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40080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4748B"/>
                </a:solidFill>
                <a:latin typeface="Calibri"/>
              </a:defRPr>
            </a:pPr>
            <a:r>
              <a:t>Both from the dev partition. Left: both candidate models, deployed model's EER point marked. Right: top acoustic features — MFCC variance dominates.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AI capability 2 — embeddings &amp; semantic search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1094415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>
                <a:solidFill>
                  <a:srgbClr val="1A202C"/>
                </a:solidFill>
                <a:latin typeface="Calibri"/>
              </a:defRPr>
            </a:pPr>
            <a:r>
              <a:t>•  The same acoustic feature vectors double as embeddings — no separate embedding model needed.</a:t>
            </a:r>
          </a:p>
          <a:p>
            <a:pPr>
              <a:spcAft>
                <a:spcPts val="1200"/>
              </a:spcAft>
              <a:defRPr sz="1900">
                <a:solidFill>
                  <a:srgbClr val="1A202C"/>
                </a:solidFill>
                <a:latin typeface="Calibri"/>
              </a:defRPr>
            </a:pPr>
            <a:r>
              <a:t>•  Standardized (zero mean, unit variance) so cosine similarity isn't dominated by whichever feature happens to have the largest raw scale.</a:t>
            </a:r>
          </a:p>
          <a:p>
            <a:pPr>
              <a:spcAft>
                <a:spcPts val="1200"/>
              </a:spcAft>
              <a:defRPr sz="1900">
                <a:solidFill>
                  <a:srgbClr val="1A202C"/>
                </a:solidFill>
                <a:latin typeface="Calibri"/>
              </a:defRPr>
            </a:pPr>
            <a:r>
              <a:t>•  Indexed into Elasticsearch as dense_vector fields, added to the existing index in place (a mapping update, not a reindex — the 50k+ documents were already there).</a:t>
            </a:r>
          </a:p>
          <a:p>
            <a:pPr>
              <a:spcAft>
                <a:spcPts val="1200"/>
              </a:spcAft>
              <a:defRPr sz="1900">
                <a:solidFill>
                  <a:srgbClr val="1A202C"/>
                </a:solidFill>
                <a:latin typeface="Calibri"/>
              </a:defRPr>
            </a:pPr>
            <a:r>
              <a:t>•  Powers /classify's "most acoustically similar training clips" — k-NN search, playable in the browser, replacing a keyword match with genuine semantic search.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636008"/>
            <a:ext cx="1109441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Calibri"/>
              </a:defRPr>
            </a:pPr>
            <a:r>
              <a:t>Where this stage sits in the pipeline: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Kaggle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58819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MinIO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68998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Spark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79177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Parquet + 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train_classifier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5546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0D9488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FFFFFF"/>
                </a:solidFill>
                <a:latin typeface="Calibri"/>
              </a:defRPr>
            </a:pPr>
            <a:r>
              <a:t>index_embeddings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2452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kafka -&gt; streaming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6141720"/>
            <a:ext cx="547405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insights.py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8999" y="6141720"/>
            <a:ext cx="547405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Flask app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212515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022694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8832873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2348941" y="5334000"/>
            <a:ext cx="7962173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6095847" y="5334000"/>
            <a:ext cx="4215267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9842753" y="5334000"/>
            <a:ext cx="468361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2348941" y="5958840"/>
            <a:ext cx="936726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2348941" y="5958840"/>
            <a:ext cx="6557085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6095847" y="5958840"/>
            <a:ext cx="2810179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3285667" y="5958840"/>
            <a:ext cx="6557086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8906026" y="5958840"/>
            <a:ext cx="936727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AI capability 3 — streaming enrichment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CBD5E1"/>
                </a:solidFill>
                <a:latin typeface="Calibri"/>
              </a:defRPr>
            </a:pPr>
            <a:r>
              <a:t>Kafka producer/consumer, near-real-time scoring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1094415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>
                <a:solidFill>
                  <a:srgbClr val="1A202C"/>
                </a:solidFill>
                <a:latin typeface="Calibri"/>
              </a:defRPr>
            </a:pPr>
            <a:r>
              <a:t>•  Producer replays eval-set utterance events (a MinIO key, not the audio itself).</a:t>
            </a:r>
          </a:p>
          <a:p>
            <a:pPr>
              <a:spcAft>
                <a:spcPts val="1200"/>
              </a:spcAft>
              <a:defRPr sz="1900">
                <a:solidFill>
                  <a:srgbClr val="1A202C"/>
                </a:solidFill>
                <a:latin typeface="Calibri"/>
              </a:defRPr>
            </a:pPr>
            <a:r>
              <a:t>•  Consumer fetches the clip, extracts features, scores it at the deployed EER threshold, and writes an enriched prediction to Elasticsearch — one document per utterance, live.</a:t>
            </a:r>
          </a:p>
          <a:p>
            <a:pPr>
              <a:spcAft>
                <a:spcPts val="1200"/>
              </a:spcAft>
              <a:defRPr sz="1900">
                <a:solidFill>
                  <a:srgbClr val="1A202C"/>
                </a:solidFill>
                <a:latin typeface="Calibri"/>
              </a:defRPr>
            </a:pPr>
            <a:r>
              <a:t>•  Same feature-extraction and model code as the batch job and the web app — one implementation applied three ways, not three separate things to maintain and defend.</a:t>
            </a:r>
          </a:p>
          <a:p>
            <a:pPr>
              <a:spcAft>
                <a:spcPts val="1200"/>
              </a:spcAft>
              <a:defRPr sz="1900">
                <a:solidFill>
                  <a:srgbClr val="1A202C"/>
                </a:solidFill>
                <a:latin typeface="Calibri"/>
              </a:defRPr>
            </a:pPr>
            <a:r>
              <a:t>•  A named consumer group tracks offset, so re-running resumes instead of re-scoring.</a:t>
            </a:r>
          </a:p>
          <a:p>
            <a:pPr>
              <a:spcAft>
                <a:spcPts val="1200"/>
              </a:spcAft>
              <a:defRPr sz="1900">
                <a:solidFill>
                  <a:srgbClr val="1A202C"/>
                </a:solidFill>
                <a:latin typeface="Calibri"/>
              </a:defRPr>
            </a:pPr>
            <a:r>
              <a:t>•  Everything on the next three slides is scored here, on the eval partition — attacks A07–A19, synthesis systems the model never saw during training.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636008"/>
            <a:ext cx="1109441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Calibri"/>
              </a:defRPr>
            </a:pPr>
            <a:r>
              <a:t>Where this stage sits in the pipeline: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Kaggle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58819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MinIO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68998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Spark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79177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Parquet + 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train_classifier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5546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index_embeddings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2452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0D9488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FFFFFF"/>
                </a:solidFill>
                <a:latin typeface="Calibri"/>
              </a:defRPr>
            </a:pPr>
            <a:r>
              <a:t>kafka -&gt; streaming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6141720"/>
            <a:ext cx="547405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insights.py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8999" y="6141720"/>
            <a:ext cx="547405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Flask app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212515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022694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832873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2348941" y="5334000"/>
            <a:ext cx="7962173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6095847" y="5334000"/>
            <a:ext cx="4215267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9842753" y="5334000"/>
            <a:ext cx="468361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2348941" y="5958840"/>
            <a:ext cx="936726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2348941" y="5958840"/>
            <a:ext cx="6557085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095847" y="5958840"/>
            <a:ext cx="2810179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3285667" y="5958840"/>
            <a:ext cx="6557086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8906026" y="5958840"/>
            <a:ext cx="936727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Pipeline stage 5 - Insights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CBD5E1"/>
                </a:solidFill>
                <a:latin typeface="Calibri"/>
              </a:defRPr>
            </a:pPr>
            <a:r>
              <a:t>insights.py — Elasticsearch aggregations -&gt; charts + RESULTS.md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1094415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Runs after the streaming consumer has written predictions — every number here is a live Elasticsearch aggregation query, nothing hand-typed or invented.</a:t>
            </a:r>
          </a:p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Computes balanced and overall detection accuracy, per-attack-type accuracy, a confusion matrix, a confidence histogram, and class balance.</a:t>
            </a:r>
          </a:p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Writes both a markdown report (docs/RESULTS.md) and the PNG charts /dashboard reuses — safe to re-run any time after a pipeline run (sample or full-scale) to regenerate real results.</a:t>
            </a:r>
          </a:p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The confusion matrix, confidence histogram, and accuracy-by-attack charts on the next slides are this script's direct output, not hand-drawn. The ROC and feature-importance charts shown earlier come from train_classifier.py instead, since those need the model's own dev predictions.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636008"/>
            <a:ext cx="1109441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Calibri"/>
              </a:defRPr>
            </a:pPr>
            <a:r>
              <a:t>Where this stage sits in the pipeline: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Kaggle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58819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MinIO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68998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Spark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79177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Parquet + 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train_classifier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5546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index_embeddings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2452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kafka -&gt; streaming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6141720"/>
            <a:ext cx="5474055" cy="441960"/>
          </a:xfrm>
          <a:prstGeom prst="roundRect">
            <a:avLst>
              <a:gd name="adj" fmla="val 6000"/>
            </a:avLst>
          </a:prstGeom>
          <a:solidFill>
            <a:srgbClr val="0D9488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FFFFFF"/>
                </a:solidFill>
                <a:latin typeface="Calibri"/>
              </a:defRPr>
            </a:pPr>
            <a:r>
              <a:t>insights.py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8999" y="6141720"/>
            <a:ext cx="547405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Flask app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212515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022694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832873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2348941" y="5334000"/>
            <a:ext cx="7962173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6095847" y="5334000"/>
            <a:ext cx="4215267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9842753" y="5334000"/>
            <a:ext cx="468361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2348941" y="5958840"/>
            <a:ext cx="936726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2348941" y="5958840"/>
            <a:ext cx="6557085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095847" y="5958840"/>
            <a:ext cx="2810179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3285667" y="5958840"/>
            <a:ext cx="6557086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8906026" y="5958840"/>
            <a:ext cx="936727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Results on streamed eval — confusion matrix &amp; confidence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14</a:t>
            </a:r>
          </a:p>
        </p:txBody>
      </p:sp>
      <p:pic>
        <p:nvPicPr>
          <p:cNvPr id="6" name="Picture 5" descr="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643" y="1417320"/>
            <a:ext cx="4892040" cy="4892040"/>
          </a:xfrm>
          <a:prstGeom prst="rect">
            <a:avLst/>
          </a:prstGeom>
        </p:spPr>
      </p:pic>
      <p:pic>
        <p:nvPicPr>
          <p:cNvPr id="7" name="Picture 6" descr="confidence_histo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2059991"/>
            <a:ext cx="5410047" cy="360669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40080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4748B"/>
                </a:solidFill>
                <a:latin typeface="Calibri"/>
              </a:defRPr>
            </a:pPr>
            <a:r>
              <a:t>Both from the streamed eval predictions. Left: true vs. predicted counts. Right: confidence on correct vs. incorrect calls.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Results on streamed eval — accuracy by attack type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CBD5E1"/>
                </a:solidFill>
                <a:latin typeface="Calibri"/>
              </a:defRPr>
            </a:pPr>
            <a:r>
              <a:t>Near-perfect on most TTS/VC systems; A17/A18/A19 are the hard ones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2567863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618488"/>
            <a:ext cx="2567863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400" b="1">
                <a:solidFill>
                  <a:srgbClr val="0D9488"/>
                </a:solidFill>
                <a:latin typeface="Calibri"/>
              </a:defRPr>
            </a:pPr>
            <a:r>
              <a:t>89.3%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377440"/>
            <a:ext cx="238498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Balanced accuracy</a:t>
            </a:r>
          </a:p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(mean of per-class recalls)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90823" y="1417320"/>
            <a:ext cx="2567863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90823" y="1618488"/>
            <a:ext cx="2567863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400" b="1">
                <a:solidFill>
                  <a:srgbClr val="2B6CB0"/>
                </a:solidFill>
                <a:latin typeface="Calibri"/>
              </a:defRPr>
            </a:pPr>
            <a:r>
              <a:t>95.3%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82263" y="2377440"/>
            <a:ext cx="238498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Bonafide recall</a:t>
            </a:r>
          </a:p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(real human speech)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3006" y="1417320"/>
            <a:ext cx="2567863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33006" y="1618488"/>
            <a:ext cx="2567863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400" b="1">
                <a:solidFill>
                  <a:srgbClr val="2B6CB0"/>
                </a:solidFill>
                <a:latin typeface="Calibri"/>
              </a:defRPr>
            </a:pPr>
            <a:r>
              <a:t>83.3%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4446" y="2377440"/>
            <a:ext cx="238498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Spoof recall</a:t>
            </a:r>
          </a:p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(AI-generated speech)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5189" y="1417320"/>
            <a:ext cx="2567863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75189" y="1618488"/>
            <a:ext cx="2567863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400" b="1">
                <a:solidFill>
                  <a:srgbClr val="DC2626"/>
                </a:solidFill>
                <a:latin typeface="Calibri"/>
              </a:defRPr>
            </a:pPr>
            <a:r>
              <a:t>88.2%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66629" y="2377440"/>
            <a:ext cx="238498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Always-spoof baseline</a:t>
            </a:r>
          </a:p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beats raw accuracy (84.8%)</a:t>
            </a:r>
          </a:p>
        </p:txBody>
      </p:sp>
      <p:pic>
        <p:nvPicPr>
          <p:cNvPr id="19" name="Picture 18" descr="accuracy_by_att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5447" y="3108960"/>
            <a:ext cx="6400800" cy="3200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48640" y="640080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4748B"/>
                </a:solidFill>
                <a:latin typeface="Calibri"/>
              </a:defRPr>
            </a:pPr>
            <a:r>
              <a:t>All figures from the 2000 streamed eval predictions (attacks A07–A19, unseen during training).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Live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109441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1A202C"/>
                </a:solidFill>
                <a:latin typeface="Calibri"/>
              </a:defRPr>
            </a:pPr>
            <a:r>
              <a:t>•  /classify — upload a clip or record live from the microphone (captured via the Web Audio API, encoded to WAV client-side — no server changes needed for live recording).</a:t>
            </a:r>
          </a:p>
          <a:p>
            <a:pPr>
              <a:spcAft>
                <a:spcPts val="1200"/>
              </a:spcAft>
              <a:defRPr sz="1800">
                <a:solidFill>
                  <a:srgbClr val="1A202C"/>
                </a:solidFill>
                <a:latin typeface="Calibri"/>
              </a:defRPr>
            </a:pPr>
            <a:r>
              <a:t>•  Returns Human / AI-generated + confidence, plus the 5 most similar training clips, each one playable right in the results, so you can hear what "similar" sounds like.</a:t>
            </a:r>
          </a:p>
          <a:p>
            <a:pPr>
              <a:spcAft>
                <a:spcPts val="1200"/>
              </a:spcAft>
              <a:defRPr sz="1800">
                <a:solidFill>
                  <a:srgbClr val="1A202C"/>
                </a:solidFill>
                <a:latin typeface="Calibri"/>
              </a:defRPr>
            </a:pPr>
            <a:r>
              <a:t>•  /dashboard — live Elasticsearch aggregations: model comparison, threshold trade-off, ROC curve, confusion matrix, feature importance, confidence calibration.</a:t>
            </a:r>
          </a:p>
        </p:txBody>
      </p:sp>
      <p:sp>
        <p:nvSpPr>
          <p:cNvPr id="7" name="Rounded Rectangle 6">
            <a:hlinkClick r:id="rId2"/>
          </p:cNvPr>
          <p:cNvSpPr/>
          <p:nvPr/>
        </p:nvSpPr>
        <p:spPr>
          <a:xfrm>
            <a:off x="548640" y="3794760"/>
            <a:ext cx="3291840" cy="594360"/>
          </a:xfrm>
          <a:prstGeom prst="roundRect">
            <a:avLst>
              <a:gd name="adj" fmla="val 6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FFFFFF"/>
                </a:solidFill>
                <a:latin typeface="Calibri"/>
              </a:defRPr>
            </a:pPr>
            <a:r>
              <a:t>▶  Open /classify</a:t>
            </a:r>
          </a:p>
        </p:txBody>
      </p:sp>
      <p:sp>
        <p:nvSpPr>
          <p:cNvPr id="8" name="Rounded Rectangle 7">
            <a:hlinkClick r:id="rId3"/>
          </p:cNvPr>
          <p:cNvSpPr/>
          <p:nvPr/>
        </p:nvSpPr>
        <p:spPr>
          <a:xfrm>
            <a:off x="4114800" y="3794760"/>
            <a:ext cx="3291840" cy="594360"/>
          </a:xfrm>
          <a:prstGeom prst="roundRect">
            <a:avLst>
              <a:gd name="adj" fmla="val 6000"/>
            </a:avLst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FFFFFF"/>
                </a:solidFill>
                <a:latin typeface="Calibri"/>
              </a:defRPr>
            </a:pPr>
            <a:r>
              <a:t>▶  Open /dashboard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07408"/>
            <a:ext cx="110944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  <a:latin typeface="Calibri"/>
              </a:defRPr>
            </a:pPr>
            <a:r>
              <a:t>Links open localhost:5000 — click while presenting from the machine running the app (see README.md).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636008"/>
            <a:ext cx="1109441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Calibri"/>
              </a:defRPr>
            </a:pPr>
            <a:r>
              <a:t>Where this stage sits in the pipeline: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Kaggle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58819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MinIO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8998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Spark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79177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Parquet + 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train_classifier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5546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index_embeddings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2452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kafka -&gt; streaming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6141720"/>
            <a:ext cx="547405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insights.py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8999" y="6141720"/>
            <a:ext cx="5474055" cy="441960"/>
          </a:xfrm>
          <a:prstGeom prst="roundRect">
            <a:avLst>
              <a:gd name="adj" fmla="val 6000"/>
            </a:avLst>
          </a:prstGeom>
          <a:solidFill>
            <a:srgbClr val="0D9488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FFFFFF"/>
                </a:solidFill>
                <a:latin typeface="Calibri"/>
              </a:defRPr>
            </a:pPr>
            <a:r>
              <a:t>Flask app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212515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6022694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832873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2348941" y="5334000"/>
            <a:ext cx="7962173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>
            <a:off x="6095847" y="5334000"/>
            <a:ext cx="4215267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9842753" y="5334000"/>
            <a:ext cx="468361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2348941" y="5958840"/>
            <a:ext cx="936726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2348941" y="5958840"/>
            <a:ext cx="6557085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6095847" y="5958840"/>
            <a:ext cx="2810179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H="1">
            <a:off x="3285667" y="5958840"/>
            <a:ext cx="6557086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H="1">
            <a:off x="8906026" y="5958840"/>
            <a:ext cx="936727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Challenges &amp; trade-offs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1094415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1A202C"/>
                </a:solidFill>
                <a:latin typeface="Calibri"/>
              </a:defRPr>
            </a:pPr>
            <a:r>
              <a:t>•  Windows + Spark: worker Python resolution, a path with spaces, a pyspark 3.5.1 / Python 3.12 incompatibility, and a removed distutils — four environment bugs, none in our own logic, all diagnosed and fixed rather than worked around.</a:t>
            </a:r>
          </a:p>
          <a:p>
            <a:pPr>
              <a:spcAft>
                <a:spcPts val="1200"/>
              </a:spcAft>
              <a:defRPr sz="1800">
                <a:solidFill>
                  <a:srgbClr val="1A202C"/>
                </a:solidFill>
                <a:latin typeface="Calibri"/>
              </a:defRPr>
            </a:pPr>
            <a:r>
              <a:t>•  The EER threshold trades some spoof recall for bonafide recall — a deliberate choice, not a free win: no single threshold maximizes both on an imbalanced dataset.</a:t>
            </a:r>
          </a:p>
          <a:p>
            <a:pPr>
              <a:spcAft>
                <a:spcPts val="1200"/>
              </a:spcAft>
              <a:defRPr sz="1800">
                <a:solidFill>
                  <a:srgbClr val="1A202C"/>
                </a:solidFill>
                <a:latin typeface="Calibri"/>
              </a:defRPr>
            </a:pPr>
            <a:r>
              <a:t>•  Embedding is the classifier's own feature vector, not a separate pretrained audio embedding model — keeps the semantic-search capability fully self-contained.</a:t>
            </a:r>
          </a:p>
          <a:p>
            <a:pPr>
              <a:spcAft>
                <a:spcPts val="1200"/>
              </a:spcAft>
              <a:defRPr sz="1800">
                <a:solidFill>
                  <a:srgbClr val="1A202C"/>
                </a:solidFill>
                <a:latin typeface="Calibri"/>
              </a:defRPr>
            </a:pPr>
            <a:r>
              <a:t>•  Kept Python end-to-end (not Scala) since the feature-extraction library is Python-only.</a:t>
            </a:r>
          </a:p>
          <a:p>
            <a:pPr>
              <a:spcAft>
                <a:spcPts val="1200"/>
              </a:spcAft>
              <a:defRPr sz="1800">
                <a:solidFill>
                  <a:srgbClr val="1A202C"/>
                </a:solidFill>
                <a:latin typeface="Calibri"/>
              </a:defRPr>
            </a:pPr>
            <a:r>
              <a:t>•  Speaker-disjoint train/dev split (not random) to avoid inflating accuracy via leakage.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383280"/>
            <a:ext cx="12191695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Questions?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7947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BD5E1"/>
                </a:solidFill>
                <a:latin typeface="Calibri"/>
              </a:defRPr>
            </a:pPr>
            <a:r>
              <a:rPr>
                <a:hlinkClick r:id="rId2"/>
              </a:rPr>
              <a:t>github.com/HadarBaum/asvspoof-voice-ai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